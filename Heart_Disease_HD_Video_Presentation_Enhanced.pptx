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1"/>
  </p:normalViewPr>
  <p:slideViewPr>
    <p:cSldViewPr snapToGrid="0" snapToObjects="1">
      <p:cViewPr varScale="1">
        <p:scale>
          <a:sx n="108" d="100"/>
          <a:sy n="108" d="100"/>
        </p:scale>
        <p:origin x="7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34840" y="594360"/>
            <a:ext cx="3337560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81931" y="663273"/>
            <a:ext cx="322783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rPr dirty="0"/>
              <a:t>HD MACHINE LEARNING </a:t>
            </a:r>
            <a:r>
              <a:rPr lang="en-US" dirty="0"/>
              <a:t>MINI </a:t>
            </a:r>
            <a:r>
              <a:rPr dirty="0"/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102412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112B4B"/>
                </a:solidFill>
                <a:latin typeface="Aptos Display"/>
              </a:defRPr>
            </a:pPr>
            <a:r>
              <a:t>Reproducing and Critically Evaluating a</a:t>
            </a:r>
            <a:br/>
            <a:r>
              <a:t>Stacking-Based Ensemble for Heart Disease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724912"/>
            <a:ext cx="8229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5F6C79"/>
                </a:solidFill>
                <a:latin typeface="Aptos"/>
              </a:defRPr>
            </a:pPr>
            <a:r>
              <a:t>Published result → reproduction → leakage audit → duplicate-aware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703320"/>
            <a:ext cx="2331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3794759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B70B5"/>
                </a:solidFill>
                <a:latin typeface="Aptos Display"/>
              </a:defRPr>
            </a:pPr>
            <a:r>
              <a:t>1,025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4233672"/>
            <a:ext cx="211226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Original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9472" y="3703320"/>
            <a:ext cx="2331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10912" y="3794759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BE433F"/>
                </a:solidFill>
                <a:latin typeface="Aptos Display"/>
              </a:defRPr>
            </a:pPr>
            <a:r>
              <a:t>723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233672"/>
            <a:ext cx="211226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Exact duplicates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535424"/>
            <a:ext cx="2112263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5F6C79"/>
                </a:solidFill>
                <a:latin typeface="Aptos"/>
              </a:defRPr>
            </a:pPr>
            <a:r>
              <a:t>70.54% of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703320"/>
            <a:ext cx="2331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01583" y="3794759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78E4E"/>
                </a:solidFill>
                <a:latin typeface="Aptos Display"/>
              </a:defRPr>
            </a:pPr>
            <a:r>
              <a:t>302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4233672"/>
            <a:ext cx="211226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Unique observations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230368"/>
            <a:ext cx="8503920" cy="65836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11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93392" y="5340096"/>
            <a:ext cx="817473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12B4B"/>
                </a:solidFill>
                <a:latin typeface="Aptos"/>
              </a:defRPr>
            </a:pPr>
            <a:r>
              <a:t>Central finding: the strongest contribution is not a higher headline accuracy — it is a more credible evaluation protocol.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61447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5F6C79"/>
                </a:solidFill>
                <a:latin typeface="Aptos"/>
              </a:defRPr>
            </a:pPr>
            <a:r>
              <a:rPr dirty="0"/>
              <a:t>Shruti Kuhar </a:t>
            </a:r>
            <a:r>
              <a:rPr lang="en-US" dirty="0"/>
              <a:t>(s226259763)</a:t>
            </a:r>
            <a:r>
              <a:rPr dirty="0"/>
              <a:t> •  Deakin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B70B5"/>
                </a:solidFill>
                <a:latin typeface="Aptos"/>
              </a:defRPr>
            </a:pPr>
            <a:r>
              <a:t>PAPER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12B4B"/>
                </a:solidFill>
                <a:latin typeface="Aptos Display"/>
              </a:defRPr>
            </a:pPr>
            <a:r>
              <a:t>Research problem, SOTA and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C79"/>
                </a:solidFill>
                <a:latin typeface="Aptos"/>
              </a:defRPr>
            </a:pPr>
            <a:r>
              <a:t>Selected paper: Bhagat, Sharma &amp; Agarwal — stacking-based heart attack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0996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256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F6C7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486400" cy="489661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5257" y="1913382"/>
            <a:ext cx="1444753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7" y="1973620"/>
            <a:ext cx="14447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t>RESEARCH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59152"/>
            <a:ext cx="49834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E2731"/>
                </a:solidFill>
                <a:latin typeface="Aptos"/>
              </a:defRPr>
            </a:pPr>
            <a:r>
              <a:rPr sz="1600" dirty="0"/>
              <a:t>Predict heart disease from structured clinical attributes using supervised machine learning.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3" y="3136392"/>
            <a:ext cx="1216153" cy="384048"/>
          </a:xfrm>
          <a:prstGeom prst="roundRect">
            <a:avLst/>
          </a:prstGeom>
          <a:solidFill>
            <a:srgbClr val="EBF8F8"/>
          </a:solidFill>
          <a:ln w="12700">
            <a:solidFill>
              <a:srgbClr val="1C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1" y="3184937"/>
            <a:ext cx="12161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C8B8B"/>
                </a:solidFill>
                <a:latin typeface="Aptos"/>
              </a:defRPr>
            </a:pPr>
            <a:r>
              <a:rPr dirty="0"/>
              <a:t>SOTA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639312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Linear/probabilistic: Logistic Regression, Naive Bayes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Instance-based: K-Nearest Neighbours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Tree ensembles: Decision Tree, Random Forest, XGBoost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Ensemble strategy: stacking combines complementary model behaviour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1" y="5357671"/>
            <a:ext cx="1371600" cy="384048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5" y="5406122"/>
            <a:ext cx="12618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rPr dirty="0"/>
              <a:t>GAP ADDRESSED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752" y="5842303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E433F"/>
                </a:solidFill>
                <a:latin typeface="Aptos"/>
              </a:defRPr>
            </a:pPr>
            <a:r>
              <a:rPr dirty="0"/>
              <a:t>The paper asks whether stacking heterogeneous classifiers can improve heart-disease prediction beyond individual models.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7830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1874519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78E4E"/>
                </a:solidFill>
                <a:latin typeface="Aptos Display"/>
              </a:defRPr>
            </a:pPr>
            <a:r>
              <a:t>98.53%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313432"/>
            <a:ext cx="183794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Published stacking 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528" y="17830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87967" y="1874519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B70B5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5" y="2313432"/>
            <a:ext cx="183794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Base classifiers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1546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59" y="3246120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C8B8B"/>
                </a:solidFill>
                <a:latin typeface="Aptos Display"/>
              </a:defRPr>
            </a:pPr>
            <a:r>
              <a:t>1,025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3685032"/>
            <a:ext cx="183794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Records used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96528" y="3154680"/>
            <a:ext cx="2057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8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87967" y="3246120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D38B20"/>
                </a:solidFill>
                <a:latin typeface="Aptos Display"/>
              </a:defRPr>
            </a:pPr>
            <a: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3685032"/>
            <a:ext cx="183794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Columns incl. target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617720"/>
            <a:ext cx="4407408" cy="43891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11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4727448"/>
            <a:ext cx="407822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12B4B"/>
                </a:solidFill>
                <a:latin typeface="Aptos"/>
              </a:defRPr>
            </a:pPr>
            <a:r>
              <a:t>Reproduction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193792"/>
            <a:ext cx="404164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12B4B"/>
                </a:solidFill>
                <a:latin typeface="Aptos"/>
              </a:defRPr>
            </a:pPr>
            <a:r>
              <a:t>Can the high published performance be reproduced — and does it remain credible when the test set is genuinely independent?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B70B5"/>
                </a:solidFill>
                <a:latin typeface="Aptos"/>
              </a:defRPr>
            </a:pPr>
            <a:r>
              <a:t>REPRODUCTION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12B4B"/>
                </a:solidFill>
                <a:latin typeface="Aptos Display"/>
              </a:defRPr>
            </a:pPr>
            <a:r>
              <a:t>Dataset, features and experimental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C79"/>
                </a:solidFill>
                <a:latin typeface="Aptos"/>
              </a:defRPr>
            </a:pPr>
            <a:r>
              <a:t>Reproducing the paper while clearly separating paper-stated details from implementation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0996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256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F6C7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8288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810512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BE433F"/>
                </a:solidFill>
                <a:latin typeface="Aptos Display"/>
              </a:defRPr>
            </a:pPr>
            <a:r>
              <a:t>526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49424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Heart disease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719072"/>
            <a:ext cx="18288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1810512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B70B5"/>
                </a:solidFill>
                <a:latin typeface="Aptos Display"/>
              </a:defRPr>
            </a:pPr>
            <a:r>
              <a:t>499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49424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No heart disease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719072"/>
            <a:ext cx="18288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79" y="1810512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78E4E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249424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719072"/>
            <a:ext cx="18288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59" y="1810512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C8B8B"/>
                </a:solidFill>
                <a:latin typeface="Aptos Display"/>
              </a:defRPr>
            </a:pPr>
            <a: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249424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Predictors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1719072"/>
            <a:ext cx="18288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8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1810512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D38B20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249424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Binary target</a:t>
            </a:r>
          </a:p>
        </p:txBody>
      </p:sp>
      <p:pic>
        <p:nvPicPr>
          <p:cNvPr id="23" name="Picture 22" descr="a_clean_professional_infographic_diagram_on_a_w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834640"/>
            <a:ext cx="5006340" cy="333756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537960" y="2816352"/>
            <a:ext cx="49834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12280" y="3063240"/>
            <a:ext cx="1965960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67144" y="3090672"/>
            <a:ext cx="185623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t>EXPERIMENTAL 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566160"/>
            <a:ext cx="44805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300">
                <a:solidFill>
                  <a:srgbClr val="1E2731"/>
                </a:solidFill>
                <a:latin typeface="Aptos"/>
              </a:defRPr>
            </a:pPr>
            <a:r>
              <a:t>• 80:20 stratified split → 820 training / 205 testing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00">
                <a:solidFill>
                  <a:srgbClr val="1E2731"/>
                </a:solidFill>
                <a:latin typeface="Aptos"/>
              </a:defRPr>
            </a:pPr>
            <a:r>
              <a:t>• Models: LR, DT, RF, XGBoost, NB and KNN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00">
                <a:solidFill>
                  <a:srgbClr val="1E2731"/>
                </a:solidFill>
                <a:latin typeface="Aptos"/>
              </a:defRPr>
            </a:pPr>
            <a:r>
              <a:t>• Five-fold stacking; Logistic Regression meta-classifier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00">
                <a:solidFill>
                  <a:srgbClr val="1E2731"/>
                </a:solidFill>
                <a:latin typeface="Aptos"/>
              </a:defRPr>
            </a:pPr>
            <a:r>
              <a:t>• Scaling for scale-sensitive models; tree models unscaled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00">
                <a:solidFill>
                  <a:srgbClr val="1E2731"/>
                </a:solidFill>
                <a:latin typeface="Aptos"/>
              </a:defRPr>
            </a:pPr>
            <a:r>
              <a:t>• Metrics: Accuracy, Precision, Recall, F1, ROC-AUC, Balanced Accuracy and MCC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00">
                <a:solidFill>
                  <a:srgbClr val="1E2731"/>
                </a:solidFill>
                <a:latin typeface="Aptos"/>
              </a:defRPr>
            </a:pPr>
            <a:r>
              <a:t>• random_state = 42 and unspecified hyperparameters treated as reproduction assumptions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B70B5"/>
                </a:solidFill>
                <a:latin typeface="Aptos"/>
              </a:defRPr>
            </a:pPr>
            <a:r>
              <a:t>EXPERIMENTAL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12B4B"/>
                </a:solidFill>
                <a:latin typeface="Aptos Display"/>
              </a:defRPr>
            </a:pPr>
            <a:r>
              <a:t>Part 1 reproduction: apparently exceptional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C79"/>
                </a:solidFill>
                <a:latin typeface="Aptos"/>
              </a:defRPr>
            </a:pPr>
            <a:r>
              <a:t>The initial experiment reproduces the paper's high-performance pattern — but requires critical inspection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0996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256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F6C79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8" name="Picture 7" descr="wide_landscape_infographic_style_chart_figure.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4852"/>
            <a:ext cx="658368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78308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1874519"/>
            <a:ext cx="1508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B70B5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2088" y="2313432"/>
            <a:ext cx="1472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78308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64040" y="1874519"/>
            <a:ext cx="1508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B70B5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2328" y="2313432"/>
            <a:ext cx="1472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97180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3063240"/>
            <a:ext cx="1508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78E4E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3502152"/>
            <a:ext cx="1472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Stacking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97180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3063240"/>
            <a:ext cx="1508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C8B8B"/>
                </a:solidFill>
                <a:latin typeface="Aptos Display"/>
              </a:defRPr>
            </a:pPr>
            <a:r>
              <a:t>98.54%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3502152"/>
            <a:ext cx="1472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4251960"/>
            <a:ext cx="3611880" cy="502920"/>
          </a:xfrm>
          <a:prstGeom prst="roundRect">
            <a:avLst/>
          </a:prstGeom>
          <a:solidFill>
            <a:srgbClr val="FCF6E8"/>
          </a:solidFill>
          <a:ln w="12700">
            <a:solidFill>
              <a:srgbClr val="D38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6952" y="4361688"/>
            <a:ext cx="32826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D38B20"/>
                </a:solidFill>
                <a:latin typeface="Aptos"/>
              </a:defRPr>
            </a:pPr>
            <a:r>
              <a:t>Published stacking benchmark: 98.53%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4956048"/>
            <a:ext cx="3703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300">
                <a:solidFill>
                  <a:srgbClr val="1E2731"/>
                </a:solidFill>
                <a:latin typeface="Aptos"/>
              </a:defRPr>
            </a:pPr>
            <a:r>
              <a:t>• LR = 80.98%; NB = 82.93%; KNN = 86.34%.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00">
                <a:solidFill>
                  <a:srgbClr val="1E2731"/>
                </a:solidFill>
                <a:latin typeface="Aptos"/>
              </a:defRPr>
            </a:pPr>
            <a:r>
              <a:t>• Tree-based models exceed the published scores.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00">
                <a:solidFill>
                  <a:srgbClr val="1E2731"/>
                </a:solidFill>
                <a:latin typeface="Aptos"/>
              </a:defRPr>
            </a:pPr>
            <a:r>
              <a:t>• A 100% test result triggered a data-quality and leakage audit rather than being accepted at face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B70B5"/>
                </a:solidFill>
                <a:latin typeface="Aptos"/>
              </a:defRPr>
            </a:pPr>
            <a:r>
              <a:t>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12B4B"/>
                </a:solidFill>
                <a:latin typeface="Aptos Display"/>
              </a:defRPr>
            </a:pPr>
            <a:r>
              <a:t>Why the 100% result is not the main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C79"/>
                </a:solidFill>
                <a:latin typeface="Aptos"/>
              </a:defRPr>
            </a:pPr>
            <a:r>
              <a:t>Exact duplicates make a conventional random row split vulnerable to train–test contamination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0996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256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F6C79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8" name="Picture 7" descr="a_clean_infographic_diagram_on_a_whit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81200"/>
            <a:ext cx="5852160" cy="3901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783080"/>
            <a:ext cx="1920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79" y="1874519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BE433F"/>
                </a:solidFill>
                <a:latin typeface="Aptos Display"/>
              </a:defRPr>
            </a:pPr>
            <a:r>
              <a:t>723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13432"/>
            <a:ext cx="1700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Exact duplicate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2615184"/>
            <a:ext cx="170078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5F6C79"/>
                </a:solidFill>
                <a:latin typeface="Aptos"/>
              </a:defRPr>
            </a:pPr>
            <a:r>
              <a:t>70.54%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1783080"/>
            <a:ext cx="1920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34272" y="1874519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78E4E"/>
                </a:solidFill>
                <a:latin typeface="Aptos Display"/>
              </a:defRPr>
            </a:pPr>
            <a:r>
              <a:t>302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59" y="2313432"/>
            <a:ext cx="1700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Unique observations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154680"/>
            <a:ext cx="1920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79" y="3246120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BE433F"/>
                </a:solidFill>
                <a:latin typeface="Aptos Display"/>
              </a:defRPr>
            </a:pPr>
            <a:r>
              <a:t>202 / 205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3685032"/>
            <a:ext cx="1700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Test rows represented</a:t>
            </a:r>
            <a:br/>
            <a:r>
              <a:t>in 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3154680"/>
            <a:ext cx="1920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34272" y="3246120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BE433F"/>
                </a:solidFill>
                <a:latin typeface="Aptos Display"/>
              </a:defRPr>
            </a:pPr>
            <a:r>
              <a:t>98.54%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3685032"/>
            <a:ext cx="1700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Feature-vector overlap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617720"/>
            <a:ext cx="4142232" cy="4572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11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85431" y="4727448"/>
            <a:ext cx="381304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12B4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19" y="5358384"/>
            <a:ext cx="37947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12B4B"/>
                </a:solidFill>
                <a:latin typeface="Aptos"/>
              </a:defRPr>
            </a:pPr>
            <a:r>
              <a:rPr dirty="0"/>
              <a:t>Flexible models can </a:t>
            </a:r>
            <a:r>
              <a:rPr dirty="0" err="1"/>
              <a:t>recognise</a:t>
            </a:r>
            <a:r>
              <a:rPr dirty="0"/>
              <a:t> patterns already present in training. Therefore, the perfect hold-out score is weak evidence of </a:t>
            </a:r>
            <a:r>
              <a:rPr dirty="0" err="1"/>
              <a:t>generalisation</a:t>
            </a:r>
            <a:r>
              <a:rPr dirty="0"/>
              <a:t> to genuinely unseen observations.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B70B5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12B4B"/>
                </a:solidFill>
                <a:latin typeface="Aptos Display"/>
              </a:defRPr>
            </a:pPr>
            <a:r>
              <a:t>Duplicate-aware tuned stacking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C79"/>
                </a:solidFill>
                <a:latin typeface="Aptos"/>
              </a:defRPr>
            </a:pPr>
            <a:r>
              <a:t>The methodological improvement first fixes evaluation validity, then optimises the 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0996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256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F6C7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92938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1892807"/>
            <a:ext cx="12984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E433F"/>
                </a:solidFill>
                <a:latin typeface="Aptos"/>
              </a:defRPr>
            </a:pPr>
            <a:r>
              <a:t>Deduplicate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67712"/>
            <a:ext cx="171907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1E2731"/>
                </a:solidFill>
                <a:latin typeface="Aptos"/>
              </a:defRPr>
            </a:pPr>
            <a:r>
              <a:t>1,025 → 302</a:t>
            </a:r>
            <a:br/>
            <a:r>
              <a:t>unique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178308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99232" y="190195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54096" y="192938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892807"/>
            <a:ext cx="12984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B70B5"/>
                </a:solidFill>
                <a:latin typeface="Aptos"/>
              </a:defRPr>
            </a:pPr>
            <a:r>
              <a:t>Split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2267712"/>
            <a:ext cx="171907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1E2731"/>
                </a:solidFill>
                <a:latin typeface="Aptos"/>
              </a:defRPr>
            </a:pPr>
            <a:r>
              <a:t>241 train /</a:t>
            </a:r>
            <a:br/>
            <a:r>
              <a:t>61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3" y="178308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66944" y="190195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21807" y="192938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C8B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6712" y="1892807"/>
            <a:ext cx="12984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C8B8B"/>
                </a:solidFill>
                <a:latin typeface="Aptos"/>
              </a:defRPr>
            </a:pPr>
            <a:r>
              <a:t>Tune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5" y="2267712"/>
            <a:ext cx="171907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1E2731"/>
                </a:solidFill>
                <a:latin typeface="Aptos"/>
              </a:defRPr>
            </a:pPr>
            <a:r>
              <a:t>5-fold CV</a:t>
            </a:r>
            <a:br/>
            <a:r>
              <a:t>on training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97496" y="178308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534656" y="190195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192938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78E4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423" y="1892807"/>
            <a:ext cx="12984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78E4E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2267712"/>
            <a:ext cx="171907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1E2731"/>
                </a:solidFill>
                <a:latin typeface="Aptos"/>
              </a:defRPr>
            </a:pPr>
            <a:r>
              <a:t>LR + tuned RF</a:t>
            </a:r>
            <a:br/>
            <a:r>
              <a:t>+ tuned XGB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65208" y="178308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802368" y="1901952"/>
            <a:ext cx="384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57232" y="192938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12B4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32136" y="1892807"/>
            <a:ext cx="12984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12B4B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267712"/>
            <a:ext cx="171907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1E2731"/>
                </a:solidFill>
                <a:latin typeface="Aptos"/>
              </a:defRPr>
            </a:pPr>
            <a:r>
              <a:t>Unseen unique</a:t>
            </a:r>
            <a:br/>
            <a:r>
              <a:t>test records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474720"/>
            <a:ext cx="6629400" cy="23317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4400" y="3675887"/>
            <a:ext cx="1600200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264" y="3703320"/>
            <a:ext cx="1490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t>PROPOSED ENSEMBLE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" y="4224528"/>
            <a:ext cx="1417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4712" y="4334256"/>
            <a:ext cx="12710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B70B5"/>
                </a:solidFill>
                <a:latin typeface="Aptos"/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4224528"/>
            <a:ext cx="1417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53512" y="4334256"/>
            <a:ext cx="12710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78E4E"/>
                </a:solidFill>
                <a:latin typeface="Aptos"/>
              </a:defRPr>
            </a:pPr>
            <a:r>
              <a:t>Tuned</a:t>
            </a:r>
            <a:br/>
            <a:r>
              <a:t>Random Forest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09160" y="4224528"/>
            <a:ext cx="1417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82312" y="4334256"/>
            <a:ext cx="12710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C8B8B"/>
                </a:solidFill>
                <a:latin typeface="Aptos"/>
              </a:defRPr>
            </a:pPr>
            <a:r>
              <a:t>Tuned</a:t>
            </a:r>
            <a:br/>
            <a:r>
              <a:t>XGBoost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47088" y="4956048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F6C79"/>
                </a:solidFill>
                <a:latin typeface="Aptos"/>
              </a:defRPr>
            </a:pPr>
            <a:r>
              <a:t>↓       ↓       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95728" y="5266944"/>
            <a:ext cx="315468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68880" y="5340096"/>
            <a:ext cx="29992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12B4B"/>
                </a:solidFill>
                <a:latin typeface="Aptos"/>
              </a:defRPr>
            </a:pPr>
            <a:r>
              <a:t>Logistic Regression Meta-Classifier + Passthrough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71231" y="3474720"/>
            <a:ext cx="3931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818120" y="3675887"/>
            <a:ext cx="1874519" cy="384048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872984" y="3703320"/>
            <a:ext cx="17647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t>WHY THIS IS DIFFERENT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416052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200">
                <a:solidFill>
                  <a:srgbClr val="1E2731"/>
                </a:solidFill>
                <a:latin typeface="Aptos"/>
              </a:defRPr>
            </a:pPr>
            <a:r>
              <a:t>• Duplicates removed before any split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200">
                <a:solidFill>
                  <a:srgbClr val="1E2731"/>
                </a:solidFill>
                <a:latin typeface="Aptos"/>
              </a:defRPr>
            </a:pPr>
            <a:r>
              <a:t>• Zero exact train–test overlap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200">
                <a:solidFill>
                  <a:srgbClr val="1E2731"/>
                </a:solidFill>
                <a:latin typeface="Aptos"/>
              </a:defRPr>
            </a:pPr>
            <a:r>
              <a:t>• RF and XGB tuned on training folds only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200">
                <a:solidFill>
                  <a:srgbClr val="1E2731"/>
                </a:solidFill>
                <a:latin typeface="Aptos"/>
              </a:defRPr>
            </a:pPr>
            <a:r>
              <a:t>• Reduced heterogeneous stack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200">
                <a:solidFill>
                  <a:srgbClr val="1E2731"/>
                </a:solidFill>
                <a:latin typeface="Aptos"/>
              </a:defRPr>
            </a:pPr>
            <a:r>
              <a:t>• Passthrough exposes original features to the meta-model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B70B5"/>
                </a:solidFill>
                <a:latin typeface="Aptos"/>
              </a:defRPr>
            </a:pPr>
            <a: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12B4B"/>
                </a:solidFill>
                <a:latin typeface="Aptos Display"/>
              </a:defRPr>
            </a:pPr>
            <a:r>
              <a:t>What changed under the stricter evaluation?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C79"/>
                </a:solidFill>
                <a:latin typeface="Aptos"/>
              </a:defRPr>
            </a:pPr>
            <a:r>
              <a:t>Same modelling problem, but a much more demanding estimate of generalisation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0996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256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F6C79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8" name="Picture 7" descr="a_clean_publication_style_bar_chart_figure_th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2787"/>
            <a:ext cx="644652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1755648"/>
            <a:ext cx="17373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1847088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BE433F"/>
                </a:solidFill>
                <a:latin typeface="Aptos Display"/>
              </a:defRPr>
            </a:pPr>
            <a:r>
              <a:t>75.41%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2286000"/>
            <a:ext cx="15179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Baseline stack</a:t>
            </a:r>
            <a:br/>
            <a:r>
              <a:t>unique hold-out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7152" y="1755648"/>
            <a:ext cx="17373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08592" y="1847088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78E4E"/>
                </a:solidFill>
                <a:latin typeface="Aptos Display"/>
              </a:defRPr>
            </a:pPr>
            <a:r>
              <a:t>80.33%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286000"/>
            <a:ext cx="15179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Tuned stack</a:t>
            </a:r>
            <a:br/>
            <a:r>
              <a:t>unique hold-out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035808"/>
            <a:ext cx="17373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3127248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78E4E"/>
                </a:solidFill>
                <a:latin typeface="Aptos Display"/>
              </a:defRPr>
            </a:pPr>
            <a:r>
              <a:t>+4.92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3566160"/>
            <a:ext cx="15179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Accuracy gain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17152" y="3035808"/>
            <a:ext cx="17373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08592" y="3127248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78E4E"/>
                </a:solidFill>
                <a:latin typeface="Aptos Display"/>
              </a:defRPr>
            </a:pPr>
            <a:r>
              <a:t>+6.06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566160"/>
            <a:ext cx="15179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6C79"/>
                </a:solidFill>
                <a:latin typeface="Aptos"/>
              </a:defRPr>
            </a:pPr>
            <a:r>
              <a:t>Recall gain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4343400"/>
            <a:ext cx="3730752" cy="438912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11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88352" y="4453128"/>
            <a:ext cx="340156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12B4B"/>
                </a:solidFill>
                <a:latin typeface="Aptos"/>
              </a:defRPr>
            </a:pPr>
            <a:r>
              <a:t>Repeated validation (50 fold-level evaluations)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892040"/>
            <a:ext cx="354787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12B4B"/>
                </a:solidFill>
                <a:latin typeface="Aptos"/>
              </a:defRPr>
            </a:pPr>
            <a:r>
              <a:t>83.44% accuracy  •  90.25% recall</a:t>
            </a:r>
            <a:br/>
            <a:r>
              <a:t>85.53% F1  •  90.42% 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650992"/>
            <a:ext cx="35478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F6C79"/>
                </a:solidFill>
                <a:latin typeface="Aptos"/>
              </a:defRPr>
            </a:pPr>
            <a:r>
              <a:t>AUC changed very little → tuning mainly improved threshold-dependent classification, especially recall.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B70B5"/>
                </a:solidFill>
                <a:latin typeface="Aptos"/>
              </a:defRPr>
            </a:pPr>
            <a:r>
              <a:t>IMPLEMENTATION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12B4B"/>
                </a:solidFill>
                <a:latin typeface="Aptos Display"/>
              </a:defRPr>
            </a:pPr>
            <a:r>
              <a:t>Live Colab demonstration: what to show on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C79"/>
                </a:solidFill>
                <a:latin typeface="Aptos"/>
              </a:defRPr>
            </a:pPr>
            <a:r>
              <a:t>Spend ~45–60 seconds here; show only the outputs that prove the experimental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0996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256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F6C7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0392" y="1947672"/>
            <a:ext cx="438912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1975103"/>
            <a:ext cx="329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47672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12B4B"/>
                </a:solidFill>
                <a:latin typeface="Aptos"/>
              </a:defRPr>
            </a:pPr>
            <a:r>
              <a:t>Dataset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68880"/>
            <a:ext cx="2880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E2731"/>
                </a:solidFill>
                <a:latin typeface="Aptos"/>
              </a:defRPr>
            </a:pPr>
            <a:r>
              <a:t>df.shape → (1025, 14)</a:t>
            </a:r>
            <a:br/>
            <a:r>
              <a:t>missing 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99431" y="1947672"/>
            <a:ext cx="438912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54295" y="1975103"/>
            <a:ext cx="329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1947672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12B4B"/>
                </a:solidFill>
                <a:latin typeface="Aptos"/>
              </a:defRPr>
            </a:pPr>
            <a:r>
              <a:t>Duplicate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468880"/>
            <a:ext cx="2880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E2731"/>
                </a:solidFill>
                <a:latin typeface="Aptos"/>
              </a:defRPr>
            </a:pPr>
            <a:r>
              <a:t>723 exact duplicates</a:t>
            </a:r>
            <a:br/>
            <a:r>
              <a:t>302 unique rows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7830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48471" y="1947672"/>
            <a:ext cx="438912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03336" y="1975103"/>
            <a:ext cx="329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1947672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12B4B"/>
                </a:solidFill>
                <a:latin typeface="Aptos"/>
              </a:defRPr>
            </a:pPr>
            <a:r>
              <a:t>Leakage diagnostic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468880"/>
            <a:ext cx="2880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E2731"/>
                </a:solidFill>
                <a:latin typeface="Aptos"/>
              </a:defRPr>
            </a:pPr>
            <a:r>
              <a:t>202 / 205 test rows</a:t>
            </a:r>
            <a:br/>
            <a:r>
              <a:t>represented in training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862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50392" y="4050791"/>
            <a:ext cx="438912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" y="4078224"/>
            <a:ext cx="329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4050791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12B4B"/>
                </a:solidFill>
                <a:latin typeface="Aptos"/>
              </a:defRPr>
            </a:pPr>
            <a:r>
              <a:t>Part 1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572000"/>
            <a:ext cx="2880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E2731"/>
                </a:solidFill>
                <a:latin typeface="Aptos"/>
              </a:defRPr>
            </a:pPr>
            <a:r>
              <a:t>RF, XGB, stacking</a:t>
            </a:r>
            <a:br/>
            <a:r>
              <a:t>= 100% accuracy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8862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99431" y="4050791"/>
            <a:ext cx="438912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54295" y="4078224"/>
            <a:ext cx="329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4050791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12B4B"/>
                </a:solidFill>
                <a:latin typeface="Aptos"/>
              </a:defRPr>
            </a:pPr>
            <a:r>
              <a:t>Proposed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7" y="4572000"/>
            <a:ext cx="2880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E2731"/>
                </a:solidFill>
                <a:latin typeface="Aptos"/>
              </a:defRPr>
            </a:pPr>
            <a:r>
              <a:t>RandomizedSearchCV</a:t>
            </a:r>
            <a:br/>
            <a:r>
              <a:t>best RF/XGB params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388620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348471" y="4050791"/>
            <a:ext cx="438912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03336" y="4078224"/>
            <a:ext cx="3291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3688" y="4050791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12B4B"/>
                </a:solidFill>
                <a:latin typeface="Aptos"/>
              </a:defRPr>
            </a:pPr>
            <a:r>
              <a:t>Final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4572000"/>
            <a:ext cx="28803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E2731"/>
                </a:solidFill>
                <a:latin typeface="Aptos"/>
              </a:defRPr>
            </a:pPr>
            <a:r>
              <a:t>80.33% hold-out</a:t>
            </a:r>
            <a:br/>
            <a:r>
              <a:t>+ repeated-CV summary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5989320"/>
            <a:ext cx="8275320" cy="475488"/>
          </a:xfrm>
          <a:prstGeom prst="roundRect">
            <a:avLst/>
          </a:prstGeom>
          <a:solidFill>
            <a:srgbClr val="FCF6E8"/>
          </a:solidFill>
          <a:ln w="12700">
            <a:solidFill>
              <a:srgbClr val="D38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30552" y="6080870"/>
            <a:ext cx="794613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D38B20"/>
                </a:solidFill>
                <a:latin typeface="Aptos"/>
              </a:defRPr>
            </a:pPr>
            <a:r>
              <a:rPr lang="en-US" dirty="0"/>
              <a:t>The proposed outputs have been added to the report with the .</a:t>
            </a:r>
            <a:r>
              <a:rPr lang="en-US" dirty="0" err="1"/>
              <a:t>ipynb</a:t>
            </a:r>
            <a:r>
              <a:rPr lang="en-US" dirty="0"/>
              <a:t> file.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B70B5"/>
                </a:solidFill>
                <a:latin typeface="Aptos"/>
              </a:defRPr>
            </a:pPr>
            <a: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12B4B"/>
                </a:solidFill>
                <a:latin typeface="Aptos Display"/>
              </a:defRPr>
            </a:pPr>
            <a:r>
              <a:t>Lessons learned, limitations and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C79"/>
                </a:solidFill>
                <a:latin typeface="Aptos"/>
              </a:defRPr>
            </a:pPr>
            <a:r>
              <a:t>The HD-level takeaway is the quality of the experimental reasoning, not simply the maximum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0996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2560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F6C7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246120" cy="420624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2029968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57400"/>
            <a:ext cx="13075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B70B5"/>
                </a:solidFill>
                <a:latin typeface="Aptos"/>
              </a:defRPr>
            </a:pPr>
            <a:r>
              <a:t>KEY LESSONS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783080"/>
            <a:ext cx="3246120" cy="420624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59" y="2029968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3" y="2057400"/>
            <a:ext cx="13075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783080"/>
            <a:ext cx="3246120" cy="4206240"/>
          </a:xfrm>
          <a:prstGeom prst="roundRect">
            <a:avLst/>
          </a:prstGeom>
          <a:solidFill>
            <a:srgbClr val="ECF8F0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19" y="2029968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8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01583" y="2057400"/>
            <a:ext cx="13075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78E4E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697480"/>
            <a:ext cx="2697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High accuracy can be misleading when train and test data are not independent.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Data auditing should precede model optimisation.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Multiple metrics reveal trade-offs hidden by accuracy alone.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97480"/>
            <a:ext cx="2697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Only 302 unique observations remain.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No patient identifiers or external cohort.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Some original-paper implementation details are unspecified.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Repeated CV is a robustness analysis, not fully nested tuning.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697480"/>
            <a:ext cx="2697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Patient/group-level splitting where identifiers exist.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Nested cross-validation.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External validation on an independent cohort.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400">
                <a:solidFill>
                  <a:srgbClr val="1E2731"/>
                </a:solidFill>
                <a:latin typeface="Aptos"/>
              </a:defRPr>
            </a:pPr>
            <a:r>
              <a:t>• Probability calibration and explainability.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6144768"/>
            <a:ext cx="8458200" cy="4572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11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39112" y="6254496"/>
            <a:ext cx="812901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12B4B"/>
                </a:solidFill>
                <a:latin typeface="Aptos"/>
              </a:defRPr>
            </a:pPr>
            <a:r>
              <a:t>Final message: credible generalisation is more valuable than impressive headline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918</Words>
  <Application>Microsoft Macintosh PowerPoint</Application>
  <PresentationFormat>Widescreen</PresentationFormat>
  <Paragraphs>175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a14793</cp:lastModifiedBy>
  <cp:revision>2</cp:revision>
  <dcterms:created xsi:type="dcterms:W3CDTF">2013-01-27T09:14:16Z</dcterms:created>
  <dcterms:modified xsi:type="dcterms:W3CDTF">2026-09-28T02:56:48Z</dcterms:modified>
  <cp:category/>
</cp:coreProperties>
</file>